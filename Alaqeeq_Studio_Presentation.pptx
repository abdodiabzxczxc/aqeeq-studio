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1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منظومة التحول الرقمي المدرسية المتكاملة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استوديو العقيق الرقمي · Alaqeeq Studio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المنصة التفاعلية الموحدة للذاكرة المدرسية، النشر ثلاثي الأبعاد، والقيادة التنفيذية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542032" cy="4114800"/>
          </a:xfrm>
          <a:prstGeom prst="roundRect">
            <a:avLst/>
          </a:prstGeom>
          <a:solidFill>
            <a:srgbClr val="0D172C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bIns="320040" lIns="201168" rIns="201168"/>
          <a:lstStyle/>
          <a:p>
            <a:pPr algn="r">
              <a:spcAft>
                <a:spcPts val="1400"/>
              </a:spcAft>
              <a:defRPr sz="1600" b="1">
                <a:solidFill>
                  <a:srgbClr val="F8CA14"/>
                </a:solidFill>
                <a:latin typeface="Arial"/>
              </a:defRPr>
            </a:pPr>
            <a:r>
              <a:t>📖 المجلة الرقمية 3D</a:t>
            </a:r>
          </a:p>
          <a:p>
            <a:pPr algn="r">
              <a:defRPr sz="1200">
                <a:solidFill>
                  <a:srgbClr val="E2E8F0"/>
                </a:solidFill>
                <a:latin typeface="Arial"/>
              </a:defRPr>
            </a:pPr>
            <a:r>
              <a:t>محرك تقليب صفحات المجلات والنشرات المدرسية بتقنية 3D الواقعية ومزامنة Drive السحابية.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74519"/>
            <a:ext cx="2542032" cy="4114800"/>
          </a:xfrm>
          <a:prstGeom prst="roundRect">
            <a:avLst/>
          </a:prstGeom>
          <a:solidFill>
            <a:srgbClr val="0D172C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bIns="320040" lIns="201168" rIns="201168"/>
          <a:lstStyle/>
          <a:p>
            <a:pPr algn="r">
              <a:spcAft>
                <a:spcPts val="1400"/>
              </a:spcAft>
              <a:defRPr sz="1600" b="1">
                <a:solidFill>
                  <a:srgbClr val="F8CA14"/>
                </a:solidFill>
                <a:latin typeface="Arial"/>
              </a:defRPr>
            </a:pPr>
            <a:r>
              <a:t>📸 أرشيف الفعاليات</a:t>
            </a:r>
          </a:p>
          <a:p>
            <a:pPr algn="r">
              <a:defRPr sz="1200">
                <a:solidFill>
                  <a:srgbClr val="E2E8F0"/>
                </a:solidFill>
                <a:latin typeface="Arial"/>
              </a:defRPr>
            </a:pPr>
            <a:r>
              <a:t>معرض سينمائي حي يوثق آلاف الصور والفيديوهات والأنشطة المدرسية بدقة فائقة.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874519"/>
            <a:ext cx="2542032" cy="4114800"/>
          </a:xfrm>
          <a:prstGeom prst="roundRect">
            <a:avLst/>
          </a:prstGeom>
          <a:solidFill>
            <a:srgbClr val="0D172C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bIns="320040" lIns="201168" rIns="201168"/>
          <a:lstStyle/>
          <a:p>
            <a:pPr algn="r">
              <a:spcAft>
                <a:spcPts val="1400"/>
              </a:spcAft>
              <a:defRPr sz="1600" b="1">
                <a:solidFill>
                  <a:srgbClr val="F8CA14"/>
                </a:solidFill>
                <a:latin typeface="Arial"/>
              </a:defRPr>
            </a:pPr>
            <a:r>
              <a:t>⚡ رادار القصص 24H</a:t>
            </a:r>
          </a:p>
          <a:p>
            <a:pPr algn="r">
              <a:defRPr sz="1200">
                <a:solidFill>
                  <a:srgbClr val="E2E8F0"/>
                </a:solidFill>
                <a:latin typeface="Arial"/>
              </a:defRPr>
            </a:pPr>
            <a:r>
              <a:t>توثيق اللحظات اليومية التفاعلية مع انتهاء صلاحية تلقائي لتعزيز المتابعة المستمرة.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874519"/>
            <a:ext cx="2542032" cy="4114800"/>
          </a:xfrm>
          <a:prstGeom prst="roundRect">
            <a:avLst/>
          </a:prstGeom>
          <a:solidFill>
            <a:srgbClr val="0D172C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bIns="320040" lIns="201168" rIns="201168"/>
          <a:lstStyle/>
          <a:p>
            <a:pPr algn="r">
              <a:spcAft>
                <a:spcPts val="1400"/>
              </a:spcAft>
              <a:defRPr sz="1600" b="1">
                <a:solidFill>
                  <a:srgbClr val="F8CA14"/>
                </a:solidFill>
                <a:latin typeface="Arial"/>
              </a:defRPr>
            </a:pPr>
            <a:r>
              <a:t>👑 غرفة القيادة /admin</a:t>
            </a:r>
          </a:p>
          <a:p>
            <a:pPr algn="r">
              <a:defRPr sz="1200">
                <a:solidFill>
                  <a:srgbClr val="E2E8F0"/>
                </a:solidFill>
                <a:latin typeface="Arial"/>
              </a:defRPr>
            </a:pPr>
            <a:r>
              <a:t>لوحة تحكم إدارية شاملة للتحكم في الكفرات والسكاشن والمشرفين وحملات الواتساب.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2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الرؤية والهدف الاستراتيجي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لماذا تم بناء استوديو العقيق؟ نقلة نوعية في الإعلام المدرسي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الانتقال من التوثيق الورقي التقليدي المحدود إلى تجربة رقمية تفاعلية عالمية المستوى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https://alaqeeq.edu.sa/studio · digital-transformation</a:t>
            </a:r>
          </a:p>
        </p:txBody>
      </p:sp>
      <p:pic>
        <p:nvPicPr>
          <p:cNvPr id="12" name="Picture 11" descr="01_hom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1. الذاكرة الرقمية المستدامة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حفظ وتوثيق كافة مناسبات وإنجازات المدارس على مدار السنوات في أرشيف رقمي منظم ومتاح 24/7.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2. تجربة تصفح ثلاثية الأبعاد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محاكاة فاخرة لقراءة المجلات الورقية مع تقليب تفاعلي 3D وصوت الورق الطبيعي على الجوال والكمبيوتر.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3. إشراك أولياء الأمور والمجتمع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بث حي للحظات اليومية عبر رادار القصص ومولد حملات الواتساب ورموز الاستجابة السريعة QR.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4. توفير مالي واستدامة بيئية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الاستغناء الكامل عن تكاليف الطباعة الورقية الباهظة والتحول إلى النشر الرقمي الأخضر.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3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الهيكلية المعمارية والأركان الأربعة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أركان استوديو العقيق الأربعة المتكاملة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منظومة مترابطة ومصممة بأعلى معايير تجربة المستخدم والسرعة الفائقة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737360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🏛️ 1. الواجهة التفاعلية (Public Studio)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الصفحة الرئيسية بمسرح الهيرو 3D المجسم، رادار القصص 24H، شريط التنبيهات العاجل، وبنتو الإنجازات.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📖 2. مجلة العقيق (/journal)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استعراض الأعداد الدورية، تقليب ثلاثي الأبعاد، دعم ملفات Google Drive و PDF، مع العلامة المائية الذكية.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4014216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📸 3. ألبوم الفعاليات (/albums)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معرض منظم للأنشطة والاحتفالات، مشغل فيديو موحد وسينمائي، وبحث وتصنيف فوري متطور.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14216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🎬 4. الأخبار والعروض (/offers)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شبكة البث المباشر وتضمين السوشيال ميديا (X، سناب شات، إنستغرام، فيسبوك، يوتيوب) مع الصوتيات.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4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الواجهة الرئيسية ومسرح الهيرو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مسرح الهيرو المتداخل 3D والتفاعل البصري الفاخر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تصميم هادف يبرز هوية العقيق ويمنح الزائر تجربة بصرية سينمائية متدرجة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https://alaqeeq.edu.sa/studio · hero-3d-stage</a:t>
            </a:r>
          </a:p>
        </p:txBody>
      </p:sp>
      <p:pic>
        <p:nvPicPr>
          <p:cNvPr id="12" name="Picture 11" descr="01_hom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🎭 مسرح الهيرو الثلاثي المتداخل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غلاف المجلة في المقدمة ببريقه الذهبي، يليه غلاف الألبوم في الوسط، وغلاف الأخبار بالخلفية مع النقر المباشر.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⚡ رادار القصص واللحظات (24H Stories)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شريط علوي دائري يعرض أحدث اللحظات اليومية بالمدارس لمدة 24 ساعة فقط لتشجيع المتابعة اليومية.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🎙️ كلمة المشرف العام الصوتية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رسالة صوتية وتوجيهية ترحيبية بصوت المشرف العام لمدارس العقيق مدمجة في الهيرو.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📢 شريط التنبيهات العاجل والإعلاني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شريط علوي لحظي لنشر التنبيهات العاجلة والاحتفالية مع روابط مخصصة وألوان مميزة.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5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التكريم الأكاديمي والأنشطة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شبكة بنتو التميز الأكاديمي والأنشطة المدرسية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عرض حي ومبهر لإنجازات الطلاب في موهبة والروبوتيكس وحائط الذكريات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https://alaqeeq.edu.sa/studio · academic-bento</a:t>
            </a:r>
          </a:p>
        </p:txBody>
      </p:sp>
      <p:pic>
        <p:nvPicPr>
          <p:cNvPr id="12" name="Picture 11" descr="01b_home_b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🏆 وسام التميز الأكاديمي الأسبوعي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تسليط الضوء على إنجازات الطلاب في مسابقات موهبة والروبوتيكس وتحديات الوزارة.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🖼️ حائط الذكريات ولحظات لا تُنسى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توثيق بالصور لأجمل اللحظات التي تجمع الطلاب بمعلميهم في بيئة تعليمية ملهمة.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📊 إحصائيات الأرشيف المفتوح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عداد متجدد تلقائياً للمجلات والألبومات والتغطيات المصورة والزيارات.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💬 كلمة الهوية والرسالة التربوية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اقتباس قيادي يرسخ قيم مدارس العقيق في صناعة الهوية وبناء جيل المستقبل.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6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النشر الصحفي والمجلات التفاعلية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مجلة العقيق (/journal): تجربة تقليب الصفحات 3D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محاكاة واقعية لتقليب صفحات المجلات المطبوعة مع مزامنة سحابية آمنة وحماية للمحتوى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https://alaqeeq.edu.sa/journal · flipbook-reader</a:t>
            </a:r>
          </a:p>
        </p:txBody>
      </p:sp>
      <p:pic>
        <p:nvPicPr>
          <p:cNvPr id="12" name="Picture 11" descr="02_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📖 محرك التقليب الواقعي (3D Flip Engine)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تقليب سلس باللمس أو الماوس، ومحاكاة لصوت الورق، مع التكبير وعرض ملء الشاشة.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☁️ تكامل ومزامنة Google Drive و PDF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رفع ومعالجة الأعداد مباشرة من روابط سحابة Drive أو ملفات PDF وتحسينها للسرعة.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📅 أرشيف زمني مصنف بالشهور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تبويب تاريخي متسلسل للأعداد المدرسية مع إحصائيات المشاهدات وعدد الصفحات.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🛡️ حماية العلامة المائية الذكية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تطبيق علامة مائية شفافة تحفظ حقوق نشر وتوثيق المحتوى المدرسي من النسخ.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7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الأرشيف البصري ومعارض الوسائط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ألبوم العقيق (/albums): أرشيف الفعاليات ومكتبة الوسائط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توثيق مصور وفيديوهات سينمائية لجميع فعاليات ورحلات ومناسبات المدارس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https://alaqeeq.edu.sa/albums · event-vault</a:t>
            </a:r>
          </a:p>
        </p:txBody>
      </p:sp>
      <p:pic>
        <p:nvPicPr>
          <p:cNvPr id="12" name="Picture 11" descr="03_albu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📸 بطاقات الألبومات المزدوجة المائلة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تصميم فني مائل يعرض غلاف الألبوم وتاريخ الفعالية وشارة عدد الصور والفيديوهات.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🎥 مشغل الفيديو السينمائي الموحد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مشغل فيديو حديث يدعم فيديوهات Drive واليوتيوب بدقة فائقة وبدون إعلانات مشتتة.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🔍 محرك البحث والتصنيف الفوري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تصفية الألبومات (الأحدث، الأقدم، الأكثر مشاهدة، الأبجدية) في جزء من الثانية.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📈 عداد التفاعل والمشاهدات الحية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تتبع دقيق لتفاعل أولياء الأمور والطلاب مع كل مناسبة مدرسية.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8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البث الإخباري ومنصات التواصل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الأخبار والعروض (/offers): المنصة الاجتماعية الموحدة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تغذية إخبارية حية تجمع تغريدات X، سناب شات، إنستغرام، فيسبوك، ويوتيوب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https://alaqeeq.edu.sa/offers · social-showcase</a:t>
            </a:r>
          </a:p>
        </p:txBody>
      </p:sp>
      <p:pic>
        <p:nvPicPr>
          <p:cNvPr id="12" name="Picture 11" descr="04_of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🎬 شبكة العقيق التفاعلية (Aqeeq Feed)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عرض شبكي انسيابي للمنشورات المصورة والفيديوهات مع فلاتر ذكية متعددة.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📱 تضمين السوشيال ميديا المباشر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عرض حي وتفاعلي لمنشورات X وإنستغرام وسناب شات وفيسبوك داخل المنصة.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🎵 خلفية صوتية ترحيبية راقية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إمكانية تشغيل خلفية صوتية راقية مخصصة للأخبار مع تحكم كامل للزائر.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🌐 الفوتر الحديث وأزرار التواصل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أزرار وصول مباشر لمواقع التواصل والموقع الجغرافي وقناة الواتساب الرسمية.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9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التحكم الإداري المتقدم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استوديو كفرات الهيرو (Hero Studio) في لوحة التحكم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تحكم كامل في كفرات الهيرو بالرئيسية والصفحات الفرعية مع معاينة حية وميديا بيكر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https://alaqeeq.edu.sa/admin · hero-covers-studio</a:t>
            </a:r>
          </a:p>
        </p:txBody>
      </p:sp>
      <p:pic>
        <p:nvPicPr>
          <p:cNvPr id="12" name="Picture 11" descr="05_admin_hero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🎭 مسرح المعاينة 3D الحي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معاينة مجسمة ثلاثية الأبعاد للكفرات مع إمكانية النقر على أي كارت لتغييره فوراً.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📖 تبويب كفر صفحة المجلة (/journal)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تحديد العدد المميز والعدد السابق وتعديل شارة وعنوان ووصف هيرو المجلة.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📸 تبويب كفر صفحة الألبومات (/albums)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تحديد الألبوم المميز والألبوم السابق وتعديل شارة وعنوان ووصف هيرو الألبومات.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🎬 تبويب كفر الأخبار والعروض (/offers)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تحديد المنشور المميز والسطر الذهبي وعنوان ووصف هيرو الأخبار.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10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إدارة الرادار والقصص اليومية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رادار القصص 24H وسلة الاستعادة والتراجع الفوري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متابعة دقيقة لقصص اليوم النشطة مع إمكانية الحذف المؤقت والتراجع ↩️ بنقرة واحدة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https://alaqeeq.edu.sa/admin · stories-radar-control</a:t>
            </a:r>
          </a:p>
        </p:txBody>
      </p:sp>
      <p:pic>
        <p:nvPicPr>
          <p:cNvPr id="12" name="Picture 11" descr="06_admi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⚡ مراقبة القصص الحية والوقت المتبقي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عرض كافة القصص النشطة بالرادار مع عداد تنازلي للوقت المتبقي لكل قصة.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🗑️ الاستبعاد والحذف المؤقت للقصص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إمكانية إخفاء أي قصة من الظهور للجمهور فوراً بضغطة زر واحدة.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↩️ زر التراجع الفوري عن الحذف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إشعار فوري وزر تراجع ذكي يتيح استعادة القصة المحذوفة في ثوانٍ.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♻️ سلة المهملات واستعادة المحذوفات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سلة مهملات سحابية تضمن عدم ضياع أي محتوى تم حذفه بالخطأ.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11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التسويق والنشر الذكي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مُولّد حملات الواتساب ورموز الاستجابة السريعة (QR)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أدوات مخصصة لسرعة إيصال المجلات والفعاليات لأولياء الأمور والمجتمع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https://alaqeeq.edu.sa/admin · whatsapp-qr-campaigns</a:t>
            </a:r>
          </a:p>
        </p:txBody>
      </p:sp>
      <p:pic>
        <p:nvPicPr>
          <p:cNvPr id="12" name="Picture 11" descr="08_admin_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📱 قوالب رسائل الواتساب الفورية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صياغة رسائل دعوة وتغطية جاهزة مع روابط مباشرة تفتح تطبيق WhatsApp فوراً.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🏁 توليد رموز QR للطباعة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إنشاء QR Codes عالية الدقة لكل مجلة أو ألبوم لوضعها في النشرات والبوسترات.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📢 شريط التنبيهات الإعلاني العاجل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التحكم في شريط الأخبار العاجلة والاحتفالية مع تحديد الروابط والألوان.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🎯 سرعة الوصول والمشاركة المجتمعية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مشاركة أي عدد أو ألبوم مع آلاف أولياء الأمور بلمح البصر وبأعلى كفاءة.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12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الحوكمة والأمان الرقمي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إدارة المشرفين، الصلاحيات (RBAC)، وسجل العمليات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حماية كاملة للمنصة مع توثيق دقيق وتتبع لكل عملية تعديل أو نشر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943600" cy="34747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73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7739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17739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700784"/>
            <a:ext cx="3749040" cy="237744"/>
          </a:xfrm>
          <a:prstGeom prst="roundRect">
            <a:avLst/>
          </a:prstGeom>
          <a:solidFill>
            <a:srgbClr val="16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🔒 https://alaqeeq.edu.sa/admin · security-rbac-audit</a:t>
            </a:r>
          </a:p>
        </p:txBody>
      </p:sp>
      <p:pic>
        <p:nvPicPr>
          <p:cNvPr id="12" name="Picture 11" descr="07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5907024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1645920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👥 إدارة أدوار المشرفين (Multi-Role RBAC)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تحديد صلاحيات دقيقة: مدير عام (Admin)، منسق محتوى (Coordinator)، استقبال، مدقق.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16352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🔐 حماية وتشفير الحسابات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إنشاء حسابات المشرفين وتعيين وتغيير كلمات المرور في ثوانٍ معدودة.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86784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📋 سجل تتبع العمليات (Audit Logs)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تسجيل آلي لاسم المشرف ووقت وتاريخ كل تعديل وحفظ وحذف يتم بالمنصة.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157216"/>
            <a:ext cx="4553712" cy="100584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82880" rIns="182880"/>
          <a:lstStyle/>
          <a:p>
            <a:pPr algn="r">
              <a:spcAft>
                <a:spcPts val="200"/>
              </a:spcAft>
              <a:defRPr sz="1250" b="1">
                <a:solidFill>
                  <a:srgbClr val="F8CA14"/>
                </a:solidFill>
                <a:latin typeface="Arial"/>
              </a:defRPr>
            </a:pPr>
            <a:r>
              <a:t>💾 العمل السحابي والمحلي المزدوج</a:t>
            </a:r>
          </a:p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مرونة عالية في حفظ وتخزين البيانات السحابية مع مزامنة محلية موثوقة.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13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البنية البرمجية والأداء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البنية التقنية الفائقة ومعايير الجودة العالمية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مبنية بأحدث تقنيات الويب الحديثة لضمان أقصى سرعة وأعلى درجات الأمان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737360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⚡ السرعة الفائقة (Vite + React 19)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تحميل فوري وتجاوب سلس بدون أي بطء مع معالجة وضغط الصور تلقائياً.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🎨 تصميم عصري (Tailwind CSS)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هوية بصرية فاخرة تدعم الوضع المظلم والفاتح والتوافق مع كافة الشاشات.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4014216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🛡️ أمان البيانات (tRPC + Drizzle ORM)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اتصال آمن ومحمي بالكامل بين الواجهة وقواعد البيانات مع تشفير كلمات المرور.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14216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📱 التوافق التام 100% (Responsive)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تجربة متكاملة على هواتف iPhone وأندرويد وأجهزة iPad والشاشات الكبيرة.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14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الأثر والعائد المؤسسي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القيمة المضافة والعائد على مدارس العقيق الأهلية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ترسيخ الريادة التعليمية والإعلامية وتعزيز الثقة المجتمعية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737360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🌟 إبراز تميز الطلاب والمعلمين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توثيق إنجازات الطلاب في مسابقات موهبة والروبوتيكس في منصة رقمية يفخر بها الجميع.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🌿 استدامة بيئية وتوفير مالي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الاستغناء عن تكاليف الطباعة الورقية الدورية والتحول إلى النشر الرقمي الأخضر.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4014216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🤝 تعزيز ثقة أولياء الأمور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إتاحة نافذة إعلامية شفافة ومباشرة تتيح للأهالي متابعة يوميات أبنائهم أولاً بأول.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14216"/>
            <a:ext cx="5248656" cy="2057400"/>
          </a:xfrm>
          <a:prstGeom prst="roundRect">
            <a:avLst/>
          </a:prstGeom>
          <a:solidFill>
            <a:srgbClr val="0D172C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28600" rIns="228600"/>
          <a:lstStyle/>
          <a:p>
            <a:pPr algn="r">
              <a:spcAft>
                <a:spcPts val="800"/>
              </a:spcAft>
              <a:defRPr sz="1400" b="1">
                <a:solidFill>
                  <a:srgbClr val="F8CA14"/>
                </a:solidFill>
                <a:latin typeface="Arial"/>
              </a:defRPr>
            </a:pPr>
            <a:r>
              <a:t>🚀 سرعة وسهولة النشر والتحكم</a:t>
            </a:r>
          </a:p>
          <a:p>
            <a:pPr algn="r">
              <a:defRPr sz="1150">
                <a:solidFill>
                  <a:srgbClr val="FFFFFF"/>
                </a:solidFill>
                <a:latin typeface="Arial"/>
              </a:defRPr>
            </a:pPr>
            <a:r>
              <a:t>قدرة فريق الإعلام بالمدارس على نشر المجلات والألبومات والتعديل في ثوانٍ.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مدارس العقيق الأهلية · استوديو العقيق الرقمي المتكامل  |  الشريحة 15 من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F8CA14"/>
                </a:solidFill>
                <a:latin typeface="Arial"/>
              </a:defRPr>
            </a:pPr>
            <a:r>
              <a:t>◆ الخاتمة والجاهزية للإنتاج ◆</a:t>
            </a:r>
          </a:p>
          <a:p>
            <a:pPr algn="r">
              <a:spcAft>
                <a:spcPts val="2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استوديو العقيق: المنظومة جاهزة للإنتاج والمستقبل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شكراً لكم · المنصة تعمل بكامل طاقتها وجاهزة لإبهار الطلاب وأولياء الأمور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542032" cy="4114800"/>
          </a:xfrm>
          <a:prstGeom prst="roundRect">
            <a:avLst/>
          </a:prstGeom>
          <a:solidFill>
            <a:srgbClr val="0D172C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bIns="320040" lIns="201168" rIns="201168"/>
          <a:lstStyle/>
          <a:p>
            <a:pPr algn="r">
              <a:spcAft>
                <a:spcPts val="1400"/>
              </a:spcAft>
              <a:defRPr sz="1600" b="1">
                <a:solidFill>
                  <a:srgbClr val="F8CA14"/>
                </a:solidFill>
                <a:latin typeface="Arial"/>
              </a:defRPr>
            </a:pPr>
            <a:r>
              <a:t>🌐 الموقع العام المباشر</a:t>
            </a:r>
          </a:p>
          <a:p>
            <a:pPr algn="r">
              <a:defRPr sz="1200">
                <a:solidFill>
                  <a:srgbClr val="E2E8F0"/>
                </a:solidFill>
                <a:latin typeface="Arial"/>
              </a:defRPr>
            </a:pPr>
            <a:r>
              <a:t>متاح للجميع عبر الرابط الرئيسي مع كافة المميزات.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74519"/>
            <a:ext cx="2542032" cy="4114800"/>
          </a:xfrm>
          <a:prstGeom prst="roundRect">
            <a:avLst/>
          </a:prstGeom>
          <a:solidFill>
            <a:srgbClr val="0D172C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bIns="320040" lIns="201168" rIns="201168"/>
          <a:lstStyle/>
          <a:p>
            <a:pPr algn="r">
              <a:spcAft>
                <a:spcPts val="1400"/>
              </a:spcAft>
              <a:defRPr sz="1600" b="1">
                <a:solidFill>
                  <a:srgbClr val="F8CA14"/>
                </a:solidFill>
                <a:latin typeface="Arial"/>
              </a:defRPr>
            </a:pPr>
            <a:r>
              <a:t>🔐 غرفة القيادة المركزية</a:t>
            </a:r>
          </a:p>
          <a:p>
            <a:pPr algn="r">
              <a:defRPr sz="1200">
                <a:solidFill>
                  <a:srgbClr val="E2E8F0"/>
                </a:solidFill>
                <a:latin typeface="Arial"/>
              </a:defRPr>
            </a:pPr>
            <a:r>
              <a:t>تسجيل الدخول عبر /admin لإدارة الكفرات والمحتوى.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874519"/>
            <a:ext cx="2542032" cy="4114800"/>
          </a:xfrm>
          <a:prstGeom prst="roundRect">
            <a:avLst/>
          </a:prstGeom>
          <a:solidFill>
            <a:srgbClr val="0D172C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bIns="320040" lIns="201168" rIns="201168"/>
          <a:lstStyle/>
          <a:p>
            <a:pPr algn="r">
              <a:spcAft>
                <a:spcPts val="1400"/>
              </a:spcAft>
              <a:defRPr sz="1600" b="1">
                <a:solidFill>
                  <a:srgbClr val="F8CA14"/>
                </a:solidFill>
                <a:latin typeface="Arial"/>
              </a:defRPr>
            </a:pPr>
            <a:r>
              <a:t>📱 التوافق الشامل</a:t>
            </a:r>
          </a:p>
          <a:p>
            <a:pPr algn="r">
              <a:defRPr sz="1200">
                <a:solidFill>
                  <a:srgbClr val="E2E8F0"/>
                </a:solidFill>
                <a:latin typeface="Arial"/>
              </a:defRPr>
            </a:pPr>
            <a:r>
              <a:t>مهيأ بنسبة 100% للجوال، الآيباد، والحواسيب.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874519"/>
            <a:ext cx="2542032" cy="4114800"/>
          </a:xfrm>
          <a:prstGeom prst="roundRect">
            <a:avLst/>
          </a:prstGeom>
          <a:solidFill>
            <a:srgbClr val="0D172C"/>
          </a:solidFill>
          <a:ln w="19050">
            <a:solidFill>
              <a:srgbClr val="F8C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bIns="320040" lIns="201168" rIns="201168"/>
          <a:lstStyle/>
          <a:p>
            <a:pPr algn="r">
              <a:spcAft>
                <a:spcPts val="1400"/>
              </a:spcAft>
              <a:defRPr sz="1600" b="1">
                <a:solidFill>
                  <a:srgbClr val="F8CA14"/>
                </a:solidFill>
                <a:latin typeface="Arial"/>
              </a:defRPr>
            </a:pPr>
            <a:r>
              <a:t>✨ التطوير والترقية المستمرة</a:t>
            </a:r>
          </a:p>
          <a:p>
            <a:pPr algn="r">
              <a:defRPr sz="1200">
                <a:solidFill>
                  <a:srgbClr val="E2E8F0"/>
                </a:solidFill>
                <a:latin typeface="Arial"/>
              </a:defRPr>
            </a:pPr>
            <a:r>
              <a:t>بنية برمجية معيارية قابلة لإضافة أي خصائص مستقبلية.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